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3" Type="http://schemas.openxmlformats.org/officeDocument/2006/relationships/notesSlide" Target="../notesSlides/notesSlide8.xml"/><Relationship Id="rId32" Type="http://schemas.openxmlformats.org/officeDocument/2006/relationships/slideLayout" Target="../slideLayouts/slideLayout1.xml"/><Relationship Id="rId31" Type="http://schemas.openxmlformats.org/officeDocument/2006/relationships/image" Target="../media/image2.png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5" Type="http://schemas.openxmlformats.org/officeDocument/2006/relationships/notesSlide" Target="../notesSlides/notesSlide10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2.png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tags" Target="../tags/tag3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1" Type="http://schemas.openxmlformats.org/officeDocument/2006/relationships/notesSlide" Target="../notesSlides/notesSlide14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44.xml"/><Relationship Id="rId19" Type="http://schemas.openxmlformats.org/officeDocument/2006/relationships/image" Target="../media/image2.png"/><Relationship Id="rId18" Type="http://schemas.openxmlformats.org/officeDocument/2006/relationships/tags" Target="../tags/tag60.xml"/><Relationship Id="rId17" Type="http://schemas.openxmlformats.org/officeDocument/2006/relationships/tags" Target="../tags/tag59.xml"/><Relationship Id="rId16" Type="http://schemas.openxmlformats.org/officeDocument/2006/relationships/tags" Target="../tags/tag58.xml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tags" Target="../tags/tag53.xml"/><Relationship Id="rId10" Type="http://schemas.openxmlformats.org/officeDocument/2006/relationships/tags" Target="../tags/tag52.xml"/><Relationship Id="rId1" Type="http://schemas.openxmlformats.org/officeDocument/2006/relationships/tags" Target="../tags/tag4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4754880" y="-2286000"/>
            <a:ext cx="8229600" cy="6400800"/>
          </a:xfrm>
          <a:prstGeom prst="rect">
            <a:avLst/>
          </a:prstGeom>
          <a:solidFill>
            <a:srgbClr val="034498">
              <a:alpha val="35000"/>
            </a:srgbClr>
          </a:solidFill>
        </p:spPr>
      </p:sp>
      <p:sp>
        <p:nvSpPr>
          <p:cNvPr id="3" name="Shape 1"/>
          <p:cNvSpPr/>
          <p:nvPr/>
        </p:nvSpPr>
        <p:spPr>
          <a:xfrm rot="-720000">
            <a:off x="5669280" y="-1371600"/>
            <a:ext cx="7315200" cy="5486400"/>
          </a:xfrm>
          <a:prstGeom prst="rect">
            <a:avLst/>
          </a:prstGeom>
          <a:solidFill>
            <a:srgbClr val="4BB1FF">
              <a:alpha val="22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7863840" y="548640"/>
            <a:ext cx="457200" cy="457200"/>
          </a:xfrm>
          <a:prstGeom prst="ellipse">
            <a:avLst/>
          </a:prstGeom>
          <a:solidFill>
            <a:srgbClr val="9FF4FF">
              <a:alpha val="4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731520" y="914400"/>
            <a:ext cx="50292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转正述职报告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技术研发部 · 后端开发工程师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91440" cy="91440"/>
          </a:xfrm>
          <a:prstGeom prst="ellipse">
            <a:avLst/>
          </a:prstGeom>
          <a:solidFill>
            <a:srgbClr val="4BB1FF"/>
          </a:solidFill>
        </p:spPr>
      </p:sp>
      <p:sp>
        <p:nvSpPr>
          <p:cNvPr id="8" name="Shape 6"/>
          <p:cNvSpPr/>
          <p:nvPr/>
        </p:nvSpPr>
        <p:spPr>
          <a:xfrm>
            <a:off x="932688" y="2743200"/>
            <a:ext cx="91440" cy="91440"/>
          </a:xfrm>
          <a:prstGeom prst="ellipse">
            <a:avLst/>
          </a:prstGeom>
          <a:solidFill>
            <a:srgbClr val="4BB1FF">
              <a:alpha val="65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1133856" y="2743200"/>
            <a:ext cx="91440" cy="91440"/>
          </a:xfrm>
          <a:prstGeom prst="ellipse">
            <a:avLst/>
          </a:prstGeom>
          <a:solidFill>
            <a:srgbClr val="4BB1FF">
              <a:alpha val="35000"/>
            </a:srgbClr>
          </a:solidFill>
        </p:spPr>
      </p:sp>
      <p:pic>
        <p:nvPicPr>
          <p:cNvPr id="10" name="Image 0" descr="D:\my_project\SkillForge\docs\labuki_vi\2、白色logo\了不起科技logo_组合横-反白-800-400px 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31520" y="3200400"/>
            <a:ext cx="2194560" cy="8686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42062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Ethan  |  2026年2月12</a:t>
            </a:r>
            <a:r>
              <a:rPr lang="zh-CN" alt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日</a:t>
            </a:r>
            <a:endParaRPr lang="zh-CN" altLang="en-US" sz="1100" dirty="0">
              <a:solidFill>
                <a:srgbClr val="94A3B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4BB1FF"/>
          </a:solidFill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548640" y="731520"/>
            <a:ext cx="20116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 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FFFFFF">
                    <a:alpha val="7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CONTENTS</a:t>
            </a:r>
            <a:endParaRPr lang="en-US" sz="1000" dirty="0"/>
          </a:p>
        </p:txBody>
      </p:sp>
      <p:pic>
        <p:nvPicPr>
          <p:cNvPr id="6" name="Image 0" descr="D:\my_project\SkillForge\docs\labuki_vi\2、白色logo\了不起科技logo_组合横-反白-800-400px 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48640" y="4023360"/>
            <a:ext cx="146304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74720" y="731520"/>
            <a:ext cx="5943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4BB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160520" y="74980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个人介绍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160520" y="109728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基本信息与岗位职责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160520" y="1554480"/>
            <a:ext cx="4389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74720" y="1737360"/>
            <a:ext cx="5943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4BB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4160520" y="175564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工作成果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160520" y="210312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核心项目与关键交付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160520" y="2560320"/>
            <a:ext cx="4389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74720" y="2743200"/>
            <a:ext cx="5943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4BB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4160520" y="276148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成长与反思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160520" y="310896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收获总结与不足改进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160520" y="3566160"/>
            <a:ext cx="4389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74720" y="3749040"/>
            <a:ext cx="59436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4BB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4160520" y="3767328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未来规划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160520" y="411480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技术深耕与发展方向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B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0" y="-182880"/>
            <a:ext cx="4754880" cy="4754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0" b="1" dirty="0">
                <a:solidFill>
                  <a:srgbClr val="FFFFFF">
                    <a:alpha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7000" dirty="0"/>
          </a:p>
        </p:txBody>
      </p:sp>
      <p:sp>
        <p:nvSpPr>
          <p:cNvPr id="3" name="Shape 1"/>
          <p:cNvSpPr/>
          <p:nvPr/>
        </p:nvSpPr>
        <p:spPr>
          <a:xfrm>
            <a:off x="7315200" y="274320"/>
            <a:ext cx="2286000" cy="2286000"/>
          </a:xfrm>
          <a:prstGeom prst="ellipse">
            <a:avLst/>
          </a:prstGeom>
          <a:solidFill>
            <a:srgbClr val="FFFFFF">
              <a:alpha val="8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731520" y="1737360"/>
            <a:ext cx="91440" cy="9144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932688" y="1737360"/>
            <a:ext cx="91440" cy="91440"/>
          </a:xfrm>
          <a:prstGeom prst="ellipse">
            <a:avLst/>
          </a:prstGeom>
          <a:solidFill>
            <a:srgbClr val="FFFFFF">
              <a:alpha val="70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1133856" y="1737360"/>
            <a:ext cx="91440" cy="91440"/>
          </a:xfrm>
          <a:prstGeom prst="ellipse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731520" y="19659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500" dirty="0">
                <a:solidFill>
                  <a:srgbClr val="FFFFFF">
                    <a:alpha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个人介绍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>
                    <a:alpha val="8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基本信息与岗位职责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4BB1FF"/>
          </a:solidFill>
        </p:spPr>
      </p:sp>
      <p:sp>
        <p:nvSpPr>
          <p:cNvPr id="3" name="Text 1"/>
          <p:cNvSpPr/>
          <p:nvPr/>
        </p:nvSpPr>
        <p:spPr>
          <a:xfrm>
            <a:off x="777240" y="41148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个人介绍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57600" cy="2286000"/>
          </a:xfrm>
          <a:prstGeom prst="rect">
            <a:avLst/>
          </a:prstGeom>
          <a:solidFill>
            <a:srgbClr val="F8FAFC"/>
          </a:solidFill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3657600" cy="45720"/>
          </a:xfrm>
          <a:prstGeom prst="rect">
            <a:avLst/>
          </a:prstGeom>
          <a:solidFill>
            <a:srgbClr val="4BB1FF"/>
          </a:solidFill>
        </p:spPr>
      </p:sp>
      <p:sp>
        <p:nvSpPr>
          <p:cNvPr id="6" name="Text 4"/>
          <p:cNvSpPr/>
          <p:nvPr/>
        </p:nvSpPr>
        <p:spPr>
          <a:xfrm>
            <a:off x="822960" y="16459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姓    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164592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Ethan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部    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210312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技术研发部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5603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岗    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256032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后端开发工程师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0175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入职日期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3017520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2025年11月26日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3840480" cy="2286000"/>
          </a:xfrm>
          <a:prstGeom prst="rect">
            <a:avLst/>
          </a:prstGeom>
          <a:solidFill>
            <a:srgbClr val="F8FAFC"/>
          </a:solidFill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371600"/>
            <a:ext cx="3840480" cy="45720"/>
          </a:xfrm>
          <a:prstGeom prst="rect">
            <a:avLst/>
          </a:prstGeom>
          <a:solidFill>
            <a:srgbClr val="034498"/>
          </a:solidFill>
        </p:spPr>
      </p:sp>
      <p:sp>
        <p:nvSpPr>
          <p:cNvPr id="16" name="Text 14"/>
          <p:cNvSpPr/>
          <p:nvPr/>
        </p:nvSpPr>
        <p:spPr>
          <a:xfrm>
            <a:off x="5029200" y="15544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岗位职责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201168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C</a:t>
            </a:r>
            <a:r>
              <a:rPr lang="en-US" sz="1200" dirty="0">
                <a:solidFill>
                  <a:srgbClr val="475569"/>
                </a:solidFill>
              </a:rPr>
              <a:t>omplynx 平台后端 API 开发与维护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RAG 检索链路搭建与持续优化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运营管理后台搭建</a:t>
            </a:r>
            <a:r>
              <a:rPr lang="zh-CN" altLang="en-US" sz="1200" dirty="0">
                <a:solidFill>
                  <a:srgbClr val="475569"/>
                </a:solidFill>
              </a:rPr>
              <a:t>维护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pic>
        <p:nvPicPr>
          <p:cNvPr id="19" name="Image 0" descr="D:\my_project\SkillForge\docs\labuki_vi\1、原色logo\了不起科技logo_组合横-原色-800-400px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4709160"/>
            <a:ext cx="1097280" cy="38404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400800" y="470916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2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B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0" y="-182880"/>
            <a:ext cx="4754880" cy="4754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0" b="1" dirty="0">
                <a:solidFill>
                  <a:srgbClr val="FFFFFF">
                    <a:alpha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7000" dirty="0"/>
          </a:p>
        </p:txBody>
      </p:sp>
      <p:sp>
        <p:nvSpPr>
          <p:cNvPr id="3" name="Shape 1"/>
          <p:cNvSpPr/>
          <p:nvPr/>
        </p:nvSpPr>
        <p:spPr>
          <a:xfrm>
            <a:off x="7315200" y="274320"/>
            <a:ext cx="2286000" cy="2286000"/>
          </a:xfrm>
          <a:prstGeom prst="ellipse">
            <a:avLst/>
          </a:prstGeom>
          <a:solidFill>
            <a:srgbClr val="FFFFFF">
              <a:alpha val="8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731520" y="1737360"/>
            <a:ext cx="91440" cy="9144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932688" y="1737360"/>
            <a:ext cx="91440" cy="91440"/>
          </a:xfrm>
          <a:prstGeom prst="ellipse">
            <a:avLst/>
          </a:prstGeom>
          <a:solidFill>
            <a:srgbClr val="FFFFFF">
              <a:alpha val="70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1133856" y="1737360"/>
            <a:ext cx="91440" cy="91440"/>
          </a:xfrm>
          <a:prstGeom prst="ellipse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731520" y="19659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500" dirty="0">
                <a:solidFill>
                  <a:srgbClr val="FFFFFF">
                    <a:alpha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工作成果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>
                    <a:alpha val="8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核心项目与关键交付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4BB1FF"/>
          </a:solidFill>
        </p:spPr>
      </p:sp>
      <p:sp>
        <p:nvSpPr>
          <p:cNvPr id="3" name="Text 1"/>
          <p:cNvSpPr/>
          <p:nvPr/>
        </p:nvSpPr>
        <p:spPr>
          <a:xfrm>
            <a:off x="777240" y="41148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工作历程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入职以来</a:t>
            </a:r>
            <a:r>
              <a:rPr lang="zh-CN" alt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</a:t>
            </a:r>
            <a:r>
              <a:rPr lang="en-US" altLang="zh-CN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Labuki Tech </a:t>
            </a:r>
            <a:r>
              <a:rPr lang="zh-CN" alt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一起经历</a:t>
            </a: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的关键里程碑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97280" y="2103120"/>
            <a:ext cx="6949440" cy="0"/>
          </a:xfrm>
          <a:prstGeom prst="line">
            <a:avLst/>
          </a:prstGeom>
          <a:noFill/>
          <a:ln w="317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4BB1FF"/>
          </a:solidFill>
        </p:spPr>
      </p:sp>
      <p:sp>
        <p:nvSpPr>
          <p:cNvPr id="7" name="Text 5"/>
          <p:cNvSpPr/>
          <p:nvPr/>
        </p:nvSpPr>
        <p:spPr>
          <a:xfrm>
            <a:off x="822960" y="18288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26060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入职融入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2971800"/>
            <a:ext cx="15544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熟悉业务 · </a:t>
            </a:r>
            <a:b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</a:b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调研AgentScope · </a:t>
            </a:r>
            <a:b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</a:br>
            <a:r>
              <a:rPr lang="zh-CN" alt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</a:t>
            </a: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数据库&amp;API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基础设计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39440" y="1828800"/>
            <a:ext cx="548640" cy="548640"/>
          </a:xfrm>
          <a:prstGeom prst="ellipse">
            <a:avLst/>
          </a:prstGeom>
          <a:solidFill>
            <a:srgbClr val="4BB1FF"/>
          </a:solidFill>
        </p:spPr>
      </p:sp>
      <p:sp>
        <p:nvSpPr>
          <p:cNvPr id="11" name="Text 9"/>
          <p:cNvSpPr/>
          <p:nvPr/>
        </p:nvSpPr>
        <p:spPr>
          <a:xfrm>
            <a:off x="3139440" y="18288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12月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82240" y="26060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核心交付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36520" y="2971800"/>
            <a:ext cx="15544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MVP</a:t>
            </a:r>
            <a:r>
              <a:rPr lang="zh-CN" alt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版本：</a:t>
            </a:r>
            <a:br>
              <a:rPr lang="zh-CN" alt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</a:b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P1/P2 接口全链路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交付 </a:t>
            </a:r>
            <a:b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</a:b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RAG-MCP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55920" y="1828800"/>
            <a:ext cx="548640" cy="548640"/>
          </a:xfrm>
          <a:prstGeom prst="ellipse">
            <a:avLst/>
          </a:prstGeom>
          <a:solidFill>
            <a:srgbClr val="4BB1FF"/>
          </a:solidFill>
        </p:spPr>
      </p:sp>
      <p:sp>
        <p:nvSpPr>
          <p:cNvPr id="15" name="Text 13"/>
          <p:cNvSpPr/>
          <p:nvPr/>
        </p:nvSpPr>
        <p:spPr>
          <a:xfrm>
            <a:off x="5455920" y="18288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1月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98720" y="26060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深度建设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53000" y="2971800"/>
            <a:ext cx="15544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运营后台 0→1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RAG 深度调优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徽章/点赞/微信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0" y="1828800"/>
            <a:ext cx="548640" cy="548640"/>
          </a:xfrm>
          <a:prstGeom prst="ellipse">
            <a:avLst/>
          </a:prstGeom>
          <a:solidFill>
            <a:srgbClr val="4BB1FF"/>
          </a:solidFill>
        </p:spPr>
      </p:sp>
      <p:sp>
        <p:nvSpPr>
          <p:cNvPr id="19" name="Text 17"/>
          <p:cNvSpPr/>
          <p:nvPr/>
        </p:nvSpPr>
        <p:spPr>
          <a:xfrm>
            <a:off x="7772400" y="18288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2月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0" y="260604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上线冲刺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69480" y="2971800"/>
            <a:ext cx="15544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微信H5登录</a:t>
            </a:r>
            <a:r>
              <a:rPr lang="zh-CN" alt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后台支持运营</a:t>
            </a: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文章录入</a:t>
            </a:r>
            <a:b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</a:b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Rag</a:t>
            </a:r>
            <a:r>
              <a:rPr lang="zh-CN" alt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初步加入</a:t>
            </a: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ES</a:t>
            </a:r>
            <a:r>
              <a:rPr lang="zh-CN" alt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检索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项目正式上线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pic>
        <p:nvPicPr>
          <p:cNvPr id="23" name="Image 0" descr="D:\my_project\SkillForge\docs\labuki_vi\1、原色logo\了不起科技logo_组合横-原色-800-400px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4709160"/>
            <a:ext cx="1097280" cy="38404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400800" y="470916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2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1" grpId="0"/>
      <p:bldP spid="12" grpId="0"/>
      <p:bldP spid="13" grpId="0"/>
      <p:bldP spid="15" grpId="0"/>
      <p:bldP spid="16" grpId="0"/>
      <p:bldP spid="17" grpId="0"/>
      <p:bldP spid="19" grpId="0"/>
      <p:bldP spid="20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4BB1FF"/>
          </a:solidFill>
        </p:spPr>
      </p:sp>
      <p:sp>
        <p:nvSpPr>
          <p:cNvPr id="3" name="Text 1"/>
          <p:cNvSpPr/>
          <p:nvPr/>
        </p:nvSpPr>
        <p:spPr>
          <a:xfrm>
            <a:off x="777240" y="41148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后端用户体系搭建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P1/P2 设计与交付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384048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20617"/>
                </a:solidFill>
              </a:rPr>
              <a:t>数据库与接口规范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0" indent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</a:rPr>
              <a:t>完成 P1(</a:t>
            </a:r>
            <a:r>
              <a:rPr lang="zh-CN" altLang="en-US" sz="1200" dirty="0">
                <a:solidFill>
                  <a:srgbClr val="475569"/>
                </a:solidFill>
              </a:rPr>
              <a:t>用户</a:t>
            </a:r>
            <a:r>
              <a:rPr lang="en-US" sz="1200" dirty="0">
                <a:solidFill>
                  <a:srgbClr val="475569"/>
                </a:solidFill>
              </a:rPr>
              <a:t>)、P2</a:t>
            </a:r>
            <a:r>
              <a:rPr lang="zh-CN" altLang="en-US" sz="1200" dirty="0">
                <a:solidFill>
                  <a:srgbClr val="475569"/>
                </a:solidFill>
              </a:rPr>
              <a:t>（企业</a:t>
            </a:r>
            <a:r>
              <a:rPr lang="zh-CN" altLang="en-US" sz="1200" dirty="0">
                <a:solidFill>
                  <a:srgbClr val="475569"/>
                </a:solidFill>
              </a:rPr>
              <a:t>认证）</a:t>
            </a:r>
            <a:r>
              <a:rPr lang="en-US" sz="1200" dirty="0">
                <a:solidFill>
                  <a:srgbClr val="475569"/>
                </a:solidFill>
              </a:rPr>
              <a:t> 两个阶段的数据库结构设计及接口规范输出，涵盖用户、企业关系等核心表结构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用户注册 / 验证码 / 企查查模块接口开发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zh-CN" altLang="en-US" sz="1200" dirty="0">
                <a:solidFill>
                  <a:srgbClr val="475569"/>
                </a:solidFill>
              </a:rPr>
              <a:t>企业认证相关接口开发与实现</a:t>
            </a:r>
            <a:endParaRPr lang="en-US" sz="1200" dirty="0">
              <a:solidFill>
                <a:srgbClr val="475569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75569"/>
                </a:solidFill>
                <a:sym typeface="+mn-ea"/>
              </a:rPr>
              <a:t>阿里云国际短信服务集成（印尼地区）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937760" y="1188720"/>
            <a:ext cx="3657600" cy="3291840"/>
          </a:xfrm>
          <a:prstGeom prst="roundRect">
            <a:avLst>
              <a:gd name="adj" fmla="val 3333"/>
            </a:avLst>
          </a:prstGeom>
          <a:blipFill rotWithShape="1">
            <a:blip r:embed="rId1"/>
            <a:stretch>
              <a:fillRect/>
            </a:stretch>
          </a:blipFill>
        </p:spPr>
      </p:sp>
      <p:sp>
        <p:nvSpPr>
          <p:cNvPr id="7" name="Text 5"/>
          <p:cNvSpPr/>
          <p:nvPr/>
        </p:nvSpPr>
        <p:spPr>
          <a:xfrm>
            <a:off x="4937760" y="228600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pic>
        <p:nvPicPr>
          <p:cNvPr id="9" name="Image 0" descr="D:\my_project\SkillForge\docs\labuki_vi\1、原色logo\了不起科技logo_组合横-原色-800-400px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57200" y="4709160"/>
            <a:ext cx="1097280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0" y="470916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2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4BB1FF"/>
          </a:solidFill>
        </p:spPr>
      </p:sp>
      <p:sp>
        <p:nvSpPr>
          <p:cNvPr id="3" name="Text 1"/>
          <p:cNvSpPr/>
          <p:nvPr/>
        </p:nvSpPr>
        <p:spPr>
          <a:xfrm>
            <a:off x="777240" y="41148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RAG 检索调优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项优化策略，持续提升检索质量</a:t>
            </a:r>
            <a:endParaRPr lang="en-US" sz="11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548640" y="1371600"/>
            <a:ext cx="2560320" cy="1280160"/>
          </a:xfrm>
          <a:prstGeom prst="rect">
            <a:avLst/>
          </a:prstGeom>
          <a:solidFill>
            <a:srgbClr val="F8FAFC"/>
          </a:solidFill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548640" y="1371600"/>
            <a:ext cx="2560320" cy="36576"/>
          </a:xfrm>
          <a:prstGeom prst="rect">
            <a:avLst/>
          </a:prstGeom>
          <a:solidFill>
            <a:srgbClr val="4BB1FF"/>
          </a:solidFill>
        </p:spPr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685800" y="150876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B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1097280" y="15087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文档级去重</a:t>
            </a:r>
            <a:endParaRPr lang="en-US" sz="1300" dirty="0"/>
          </a:p>
        </p:txBody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685800" y="196596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优先命中同一法规较新版本，避免重复文档干扰</a:t>
            </a:r>
            <a:endParaRPr lang="en-US" sz="1000" dirty="0"/>
          </a:p>
        </p:txBody>
      </p:sp>
      <p:sp>
        <p:nvSpPr>
          <p:cNvPr id="10" name="Shape 8"/>
          <p:cNvSpPr/>
          <p:nvPr>
            <p:custDataLst>
              <p:tags r:id="rId6"/>
            </p:custDataLst>
          </p:nvPr>
        </p:nvSpPr>
        <p:spPr>
          <a:xfrm>
            <a:off x="3383280" y="1371600"/>
            <a:ext cx="2560320" cy="1280160"/>
          </a:xfrm>
          <a:prstGeom prst="rect">
            <a:avLst/>
          </a:prstGeom>
          <a:solidFill>
            <a:srgbClr val="F8FAFC"/>
          </a:solidFill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3383280" y="1371600"/>
            <a:ext cx="2560320" cy="36576"/>
          </a:xfrm>
          <a:prstGeom prst="rect">
            <a:avLst/>
          </a:prstGeom>
          <a:solidFill>
            <a:srgbClr val="4BB1FF"/>
          </a:solidFill>
        </p:spPr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3520440" y="150876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B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3931920" y="15087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Chunk 相似度去重</a:t>
            </a:r>
            <a:endParaRPr lang="en-US" sz="1300" dirty="0"/>
          </a:p>
        </p:txBody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3520440" y="196596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过滤高度重叠的文本片段，提升结果多样性</a:t>
            </a:r>
            <a:endParaRPr lang="en-US" sz="1000" dirty="0"/>
          </a:p>
        </p:txBody>
      </p:sp>
      <p:sp>
        <p:nvSpPr>
          <p:cNvPr id="15" name="Shape 13"/>
          <p:cNvSpPr/>
          <p:nvPr>
            <p:custDataLst>
              <p:tags r:id="rId11"/>
            </p:custDataLst>
          </p:nvPr>
        </p:nvSpPr>
        <p:spPr>
          <a:xfrm>
            <a:off x="6217920" y="1371600"/>
            <a:ext cx="2560320" cy="1280160"/>
          </a:xfrm>
          <a:prstGeom prst="rect">
            <a:avLst/>
          </a:prstGeom>
          <a:solidFill>
            <a:srgbClr val="F8FAFC"/>
          </a:solidFill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>
            <p:custDataLst>
              <p:tags r:id="rId12"/>
            </p:custDataLst>
          </p:nvPr>
        </p:nvSpPr>
        <p:spPr>
          <a:xfrm>
            <a:off x="6217920" y="1371600"/>
            <a:ext cx="2560320" cy="36576"/>
          </a:xfrm>
          <a:prstGeom prst="rect">
            <a:avLst/>
          </a:prstGeom>
          <a:solidFill>
            <a:srgbClr val="4BB1FF"/>
          </a:solidFill>
        </p:spPr>
      </p:sp>
      <p:sp>
        <p:nvSpPr>
          <p:cNvPr id="17" name="Text 15"/>
          <p:cNvSpPr/>
          <p:nvPr>
            <p:custDataLst>
              <p:tags r:id="rId13"/>
            </p:custDataLst>
          </p:nvPr>
        </p:nvSpPr>
        <p:spPr>
          <a:xfrm>
            <a:off x="6355080" y="150876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B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>
            <p:custDataLst>
              <p:tags r:id="rId14"/>
            </p:custDataLst>
          </p:nvPr>
        </p:nvSpPr>
        <p:spPr>
          <a:xfrm>
            <a:off x="6766560" y="15087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重排后低分过滤</a:t>
            </a:r>
            <a:endParaRPr lang="en-US" sz="1300" dirty="0"/>
          </a:p>
        </p:txBody>
      </p:sp>
      <p:sp>
        <p:nvSpPr>
          <p:cNvPr id="19" name="Text 17"/>
          <p:cNvSpPr/>
          <p:nvPr>
            <p:custDataLst>
              <p:tags r:id="rId15"/>
            </p:custDataLst>
          </p:nvPr>
        </p:nvSpPr>
        <p:spPr>
          <a:xfrm>
            <a:off x="6355080" y="196596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移除重排后得分过低</a:t>
            </a:r>
            <a:r>
              <a:rPr lang="zh-CN" alt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（</a:t>
            </a:r>
            <a:r>
              <a:rPr lang="en-US" altLang="zh-CN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0.78</a:t>
            </a:r>
            <a:r>
              <a:rPr lang="zh-CN" alt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）</a:t>
            </a: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 Chunk，保障答案质量</a:t>
            </a:r>
            <a:endParaRPr lang="en-US" sz="1000" dirty="0"/>
          </a:p>
        </p:txBody>
      </p:sp>
      <p:sp>
        <p:nvSpPr>
          <p:cNvPr id="20" name="Shape 18"/>
          <p:cNvSpPr/>
          <p:nvPr>
            <p:custDataLst>
              <p:tags r:id="rId16"/>
            </p:custDataLst>
          </p:nvPr>
        </p:nvSpPr>
        <p:spPr>
          <a:xfrm>
            <a:off x="548640" y="2880360"/>
            <a:ext cx="2560320" cy="1280160"/>
          </a:xfrm>
          <a:prstGeom prst="rect">
            <a:avLst/>
          </a:prstGeom>
          <a:solidFill>
            <a:srgbClr val="F8FAFC"/>
          </a:solidFill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>
            <p:custDataLst>
              <p:tags r:id="rId17"/>
            </p:custDataLst>
          </p:nvPr>
        </p:nvSpPr>
        <p:spPr>
          <a:xfrm>
            <a:off x="548640" y="2880360"/>
            <a:ext cx="2560320" cy="36576"/>
          </a:xfrm>
          <a:prstGeom prst="rect">
            <a:avLst/>
          </a:prstGeom>
          <a:solidFill>
            <a:srgbClr val="4BB1FF"/>
          </a:solidFill>
        </p:spPr>
      </p:sp>
      <p:sp>
        <p:nvSpPr>
          <p:cNvPr id="22" name="Text 20"/>
          <p:cNvSpPr/>
          <p:nvPr>
            <p:custDataLst>
              <p:tags r:id="rId18"/>
            </p:custDataLst>
          </p:nvPr>
        </p:nvSpPr>
        <p:spPr>
          <a:xfrm>
            <a:off x="685800" y="301752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B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>
            <p:custDataLst>
              <p:tags r:id="rId19"/>
            </p:custDataLst>
          </p:nvPr>
        </p:nvSpPr>
        <p:spPr>
          <a:xfrm>
            <a:off x="1097280" y="30175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翻译稳定性优化</a:t>
            </a:r>
            <a:endParaRPr lang="en-US" sz="1300" dirty="0"/>
          </a:p>
        </p:txBody>
      </p:sp>
      <p:sp>
        <p:nvSpPr>
          <p:cNvPr id="24" name="Text 22"/>
          <p:cNvSpPr/>
          <p:nvPr>
            <p:custDataLst>
              <p:tags r:id="rId20"/>
            </p:custDataLst>
          </p:nvPr>
        </p:nvSpPr>
        <p:spPr>
          <a:xfrm>
            <a:off x="685800" y="347472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调参 LLM 温度&amp;</a:t>
            </a:r>
            <a:r>
              <a:rPr lang="zh-CN" alt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多模型测试</a:t>
            </a: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，减少子查询翻译随机性</a:t>
            </a:r>
            <a:endParaRPr lang="en-US" sz="1000" dirty="0"/>
          </a:p>
        </p:txBody>
      </p:sp>
      <p:sp>
        <p:nvSpPr>
          <p:cNvPr id="25" name="Shape 23"/>
          <p:cNvSpPr/>
          <p:nvPr>
            <p:custDataLst>
              <p:tags r:id="rId21"/>
            </p:custDataLst>
          </p:nvPr>
        </p:nvSpPr>
        <p:spPr>
          <a:xfrm>
            <a:off x="3383280" y="2880360"/>
            <a:ext cx="2560320" cy="1280160"/>
          </a:xfrm>
          <a:prstGeom prst="rect">
            <a:avLst/>
          </a:prstGeom>
          <a:solidFill>
            <a:srgbClr val="F8FAFC"/>
          </a:solidFill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>
            <p:custDataLst>
              <p:tags r:id="rId22"/>
            </p:custDataLst>
          </p:nvPr>
        </p:nvSpPr>
        <p:spPr>
          <a:xfrm>
            <a:off x="3383280" y="2880360"/>
            <a:ext cx="2560320" cy="36576"/>
          </a:xfrm>
          <a:prstGeom prst="rect">
            <a:avLst/>
          </a:prstGeom>
          <a:solidFill>
            <a:srgbClr val="4BB1FF"/>
          </a:solidFill>
        </p:spPr>
      </p:sp>
      <p:sp>
        <p:nvSpPr>
          <p:cNvPr id="27" name="Text 25"/>
          <p:cNvSpPr/>
          <p:nvPr>
            <p:custDataLst>
              <p:tags r:id="rId23"/>
            </p:custDataLst>
          </p:nvPr>
        </p:nvSpPr>
        <p:spPr>
          <a:xfrm>
            <a:off x="3520440" y="301752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B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>
            <p:custDataLst>
              <p:tags r:id="rId24"/>
            </p:custDataLst>
          </p:nvPr>
        </p:nvSpPr>
        <p:spPr>
          <a:xfrm>
            <a:off x="3931920" y="30175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动态 top_k</a:t>
            </a:r>
            <a:endParaRPr lang="en-US" sz="1300" dirty="0"/>
          </a:p>
        </p:txBody>
      </p:sp>
      <p:sp>
        <p:nvSpPr>
          <p:cNvPr id="29" name="Text 27"/>
          <p:cNvSpPr/>
          <p:nvPr>
            <p:custDataLst>
              <p:tags r:id="rId25"/>
            </p:custDataLst>
          </p:nvPr>
        </p:nvSpPr>
        <p:spPr>
          <a:xfrm>
            <a:off x="3520440" y="347472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按问题复杂度动态调整返回数量，提升检索效率</a:t>
            </a:r>
            <a:endParaRPr lang="en-US" sz="1000" dirty="0"/>
          </a:p>
        </p:txBody>
      </p:sp>
      <p:sp>
        <p:nvSpPr>
          <p:cNvPr id="30" name="Shape 28"/>
          <p:cNvSpPr/>
          <p:nvPr>
            <p:custDataLst>
              <p:tags r:id="rId26"/>
            </p:custDataLst>
          </p:nvPr>
        </p:nvSpPr>
        <p:spPr>
          <a:xfrm>
            <a:off x="6217920" y="2880360"/>
            <a:ext cx="2560320" cy="1280160"/>
          </a:xfrm>
          <a:prstGeom prst="rect">
            <a:avLst/>
          </a:prstGeom>
          <a:solidFill>
            <a:srgbClr val="F8FAFC"/>
          </a:solidFill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>
            <p:custDataLst>
              <p:tags r:id="rId27"/>
            </p:custDataLst>
          </p:nvPr>
        </p:nvSpPr>
        <p:spPr>
          <a:xfrm>
            <a:off x="6217920" y="2880360"/>
            <a:ext cx="2560320" cy="36576"/>
          </a:xfrm>
          <a:prstGeom prst="rect">
            <a:avLst/>
          </a:prstGeom>
          <a:solidFill>
            <a:srgbClr val="4BB1FF"/>
          </a:solidFill>
        </p:spPr>
      </p:sp>
      <p:sp>
        <p:nvSpPr>
          <p:cNvPr id="32" name="Text 30"/>
          <p:cNvSpPr/>
          <p:nvPr>
            <p:custDataLst>
              <p:tags r:id="rId28"/>
            </p:custDataLst>
          </p:nvPr>
        </p:nvSpPr>
        <p:spPr>
          <a:xfrm>
            <a:off x="6355080" y="3017520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B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>
            <p:custDataLst>
              <p:tags r:id="rId29"/>
            </p:custDataLst>
          </p:nvPr>
        </p:nvSpPr>
        <p:spPr>
          <a:xfrm>
            <a:off x="6766560" y="30175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Embedding 模型优化</a:t>
            </a:r>
            <a:endParaRPr lang="en-US" sz="1300" dirty="0"/>
          </a:p>
        </p:txBody>
      </p:sp>
      <p:sp>
        <p:nvSpPr>
          <p:cNvPr id="34" name="Text 32"/>
          <p:cNvSpPr/>
          <p:nvPr>
            <p:custDataLst>
              <p:tags r:id="rId30"/>
            </p:custDataLst>
          </p:nvPr>
        </p:nvSpPr>
        <p:spPr>
          <a:xfrm>
            <a:off x="6355080" y="347472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规避 JINA 并发限制，兼容自部署JINA模型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pic>
        <p:nvPicPr>
          <p:cNvPr id="36" name="Image 0" descr="D:\my_project\SkillForge\docs\labuki_vi\1、原色logo\了不起科技logo_组合横-原色-800-400px.png"/>
          <p:cNvPicPr>
            <a:picLocks noChangeAspect="1"/>
          </p:cNvPicPr>
          <p:nvPr/>
        </p:nvPicPr>
        <p:blipFill>
          <a:blip r:embed="rId31"/>
          <a:srcRect/>
          <a:stretch>
            <a:fillRect/>
          </a:stretch>
        </p:blipFill>
        <p:spPr>
          <a:xfrm>
            <a:off x="457200" y="4709160"/>
            <a:ext cx="1097280" cy="384048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6400800" y="470916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2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2" grpId="0"/>
      <p:bldP spid="13" grpId="0"/>
      <p:bldP spid="14" grpId="0"/>
      <p:bldP spid="17" grpId="0"/>
      <p:bldP spid="18" grpId="0"/>
      <p:bldP spid="19" grpId="0"/>
      <p:bldP spid="22" grpId="0"/>
      <p:bldP spid="23" grpId="0"/>
      <p:bldP spid="24" grpId="0"/>
      <p:bldP spid="27" grpId="0"/>
      <p:bldP spid="28" grpId="0"/>
      <p:bldP spid="29" grpId="0"/>
      <p:bldP spid="32" grpId="0"/>
      <p:bldP spid="33" grpId="0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4BB1FF"/>
          </a:solidFill>
        </p:spPr>
      </p:sp>
      <p:sp>
        <p:nvSpPr>
          <p:cNvPr id="3" name="Text 1"/>
          <p:cNvSpPr/>
          <p:nvPr/>
        </p:nvSpPr>
        <p:spPr>
          <a:xfrm>
            <a:off x="777240" y="41148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运营管理后台 0→1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独立完成从设计到上线的全链路交付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781812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20617"/>
                </a:solidFill>
              </a:rPr>
              <a:t>核心功能模块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用户状态管理：查看基本信息、积分、使用情况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用户备注能力：支持运营人员添加用户标记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管理员账号管理：支持禁用/启用管理员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</a:rPr>
              <a:t>文章录入系统：内容录入 + Elasticsearch 存储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20617"/>
                </a:solidFill>
              </a:rPr>
              <a:t>实践方法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endParaRPr lang="en-US" sz="1400" dirty="0"/>
          </a:p>
          <a:p>
            <a:pPr marL="0" indent="0">
              <a:lnSpc>
                <a:spcPct val="15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</a:rPr>
              <a:t>采用 VIBE-CODING + SPEC + SKILL ，从需求分析到设计、开发、</a:t>
            </a:r>
            <a:r>
              <a:rPr lang="zh-CN" altLang="en-US" sz="1200" dirty="0">
                <a:solidFill>
                  <a:srgbClr val="475569"/>
                </a:solidFill>
              </a:rPr>
              <a:t>本地前后端</a:t>
            </a:r>
            <a:r>
              <a:rPr lang="en-US" sz="1200" dirty="0">
                <a:solidFill>
                  <a:srgbClr val="475569"/>
                </a:solidFill>
              </a:rPr>
              <a:t>联调、上线全链路独立完成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pic>
        <p:nvPicPr>
          <p:cNvPr id="7" name="Image 0" descr="D:\my_project\SkillForge\docs\labuki_vi\1、原色logo\了不起科技logo_组合横-原色-800-400px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4709160"/>
            <a:ext cx="1097280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0" y="470916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2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4BB1FF"/>
          </a:solidFill>
        </p:spPr>
      </p:sp>
      <p:sp>
        <p:nvSpPr>
          <p:cNvPr id="3" name="Text 1"/>
          <p:cNvSpPr/>
          <p:nvPr/>
        </p:nvSpPr>
        <p:spPr>
          <a:xfrm>
            <a:off x="777240" y="41148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关键数据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用数字说话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132320" y="2926080"/>
            <a:ext cx="3200400" cy="3200400"/>
          </a:xfrm>
          <a:prstGeom prst="ellipse">
            <a:avLst/>
          </a:prstGeom>
          <a:solidFill>
            <a:srgbClr val="EEF8FF">
              <a:alpha val="25000"/>
            </a:srgbClr>
          </a:solidFill>
        </p:spPr>
      </p:sp>
      <p:sp>
        <p:nvSpPr>
          <p:cNvPr id="6" name="Text 4"/>
          <p:cNvSpPr/>
          <p:nvPr>
            <p:custDataLst>
              <p:tags r:id="rId1"/>
            </p:custDataLst>
          </p:nvPr>
        </p:nvSpPr>
        <p:spPr>
          <a:xfrm>
            <a:off x="548640" y="1280160"/>
            <a:ext cx="25603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4BB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50+</a:t>
            </a:r>
            <a:endParaRPr lang="en-US" sz="5600" dirty="0"/>
          </a:p>
        </p:txBody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548640" y="242316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核心接口交付</a:t>
            </a:r>
            <a:endParaRPr lang="en-US" sz="1600" dirty="0"/>
          </a:p>
        </p:txBody>
      </p:sp>
      <p:sp>
        <p:nvSpPr>
          <p:cNvPr id="8" name="Shape 6"/>
          <p:cNvSpPr/>
          <p:nvPr>
            <p:custDataLst>
              <p:tags r:id="rId3"/>
            </p:custDataLst>
          </p:nvPr>
        </p:nvSpPr>
        <p:spPr>
          <a:xfrm>
            <a:off x="1143000" y="2926080"/>
            <a:ext cx="1371600" cy="0"/>
          </a:xfrm>
          <a:prstGeom prst="line">
            <a:avLst/>
          </a:prstGeom>
          <a:noFill/>
          <a:ln w="19050">
            <a:solidFill>
              <a:srgbClr val="4BB1FF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548640" y="3063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用户体系 · 企业认证 · 微信登录</a:t>
            </a:r>
            <a:endParaRPr lang="en-US" sz="1100" dirty="0"/>
          </a:p>
        </p:txBody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3383280" y="1280160"/>
            <a:ext cx="25603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4BB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项</a:t>
            </a:r>
            <a:endParaRPr lang="en-US" sz="5600" dirty="0"/>
          </a:p>
        </p:txBody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3383280" y="242316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RAG 优化策略</a:t>
            </a:r>
            <a:endParaRPr lang="en-US" sz="1600" dirty="0"/>
          </a:p>
        </p:txBody>
      </p:sp>
      <p:sp>
        <p:nvSpPr>
          <p:cNvPr id="12" name="Shape 10"/>
          <p:cNvSpPr/>
          <p:nvPr>
            <p:custDataLst>
              <p:tags r:id="rId7"/>
            </p:custDataLst>
          </p:nvPr>
        </p:nvSpPr>
        <p:spPr>
          <a:xfrm>
            <a:off x="3977640" y="2926080"/>
            <a:ext cx="1371600" cy="0"/>
          </a:xfrm>
          <a:prstGeom prst="line">
            <a:avLst/>
          </a:prstGeom>
          <a:noFill/>
          <a:ln w="19050">
            <a:solidFill>
              <a:srgbClr val="4BB1FF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3383280" y="3063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检索质量与效率持续提升</a:t>
            </a:r>
            <a:endParaRPr lang="en-US" sz="1100" dirty="0"/>
          </a:p>
        </p:txBody>
      </p:sp>
      <p:sp>
        <p:nvSpPr>
          <p:cNvPr id="14" name="Text 12"/>
          <p:cNvSpPr/>
          <p:nvPr>
            <p:custDataLst>
              <p:tags r:id="rId9"/>
            </p:custDataLst>
          </p:nvPr>
        </p:nvSpPr>
        <p:spPr>
          <a:xfrm>
            <a:off x="6217920" y="1280160"/>
            <a:ext cx="25603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4BB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大</a:t>
            </a:r>
            <a:endParaRPr lang="en-US" sz="5600" dirty="0"/>
          </a:p>
        </p:txBody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6217920" y="242316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系统模块</a:t>
            </a:r>
            <a:r>
              <a:rPr lang="zh-CN" altLang="en-US" sz="16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维护</a:t>
            </a:r>
            <a:endParaRPr lang="zh-CN" altLang="en-US" sz="1600" b="1" dirty="0">
              <a:solidFill>
                <a:srgbClr val="02061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Shape 14"/>
          <p:cNvSpPr/>
          <p:nvPr>
            <p:custDataLst>
              <p:tags r:id="rId11"/>
            </p:custDataLst>
          </p:nvPr>
        </p:nvSpPr>
        <p:spPr>
          <a:xfrm>
            <a:off x="6812280" y="2926080"/>
            <a:ext cx="1371600" cy="0"/>
          </a:xfrm>
          <a:prstGeom prst="line">
            <a:avLst/>
          </a:prstGeom>
          <a:noFill/>
          <a:ln w="19050">
            <a:solidFill>
              <a:srgbClr val="4BB1FF"/>
            </a:solidFill>
            <a:prstDash val="solid"/>
          </a:ln>
        </p:spPr>
      </p:sp>
      <p:sp>
        <p:nvSpPr>
          <p:cNvPr id="17" name="Text 15"/>
          <p:cNvSpPr/>
          <p:nvPr>
            <p:custDataLst>
              <p:tags r:id="rId12"/>
            </p:custDataLst>
          </p:nvPr>
        </p:nvSpPr>
        <p:spPr>
          <a:xfrm>
            <a:off x="6217920" y="30632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用户体系 · RAG · 运营后台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pic>
        <p:nvPicPr>
          <p:cNvPr id="19" name="Image 0" descr="D:\my_project\SkillForge\docs\labuki_vi\1、原色logo\了不起科技logo_组合横-原色-800-400px.png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457200" y="4709160"/>
            <a:ext cx="1097280" cy="38404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400800" y="470916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2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  <p:bldP spid="11" grpId="0"/>
      <p:bldP spid="13" grpId="0"/>
      <p:bldP spid="14" grpId="0"/>
      <p:bldP spid="15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B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0" y="-182880"/>
            <a:ext cx="4754880" cy="4754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0" b="1" dirty="0">
                <a:solidFill>
                  <a:srgbClr val="FFFFFF">
                    <a:alpha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7000" dirty="0"/>
          </a:p>
        </p:txBody>
      </p:sp>
      <p:sp>
        <p:nvSpPr>
          <p:cNvPr id="3" name="Shape 1"/>
          <p:cNvSpPr/>
          <p:nvPr/>
        </p:nvSpPr>
        <p:spPr>
          <a:xfrm>
            <a:off x="7315200" y="274320"/>
            <a:ext cx="2286000" cy="2286000"/>
          </a:xfrm>
          <a:prstGeom prst="ellipse">
            <a:avLst/>
          </a:prstGeom>
          <a:solidFill>
            <a:srgbClr val="FFFFFF">
              <a:alpha val="8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731520" y="1737360"/>
            <a:ext cx="91440" cy="9144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932688" y="1737360"/>
            <a:ext cx="91440" cy="91440"/>
          </a:xfrm>
          <a:prstGeom prst="ellipse">
            <a:avLst/>
          </a:prstGeom>
          <a:solidFill>
            <a:srgbClr val="FFFFFF">
              <a:alpha val="70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1133856" y="1737360"/>
            <a:ext cx="91440" cy="91440"/>
          </a:xfrm>
          <a:prstGeom prst="ellipse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731520" y="19659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500" dirty="0">
                <a:solidFill>
                  <a:srgbClr val="FFFFFF">
                    <a:alpha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03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成长与反思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>
                    <a:alpha val="8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收获总结与不足改进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4BB1FF"/>
          </a:solidFill>
        </p:spPr>
      </p:sp>
      <p:sp>
        <p:nvSpPr>
          <p:cNvPr id="3" name="Text 1"/>
          <p:cNvSpPr/>
          <p:nvPr/>
        </p:nvSpPr>
        <p:spPr>
          <a:xfrm>
            <a:off x="777240" y="41148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成长收获与不足改进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3246120"/>
          </a:xfrm>
          <a:prstGeom prst="rect">
            <a:avLst/>
          </a:prstGeom>
          <a:solidFill>
            <a:srgbClr val="F8FAFC"/>
          </a:solidFill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3794760" cy="45720"/>
          </a:xfrm>
          <a:prstGeom prst="rect">
            <a:avLst/>
          </a:prstGeom>
          <a:solidFill>
            <a:srgbClr val="4BB1FF"/>
          </a:solidFill>
        </p:spPr>
      </p:sp>
      <p:sp>
        <p:nvSpPr>
          <p:cNvPr id="6" name="Text 4"/>
          <p:cNvSpPr/>
          <p:nvPr/>
        </p:nvSpPr>
        <p:spPr>
          <a:xfrm>
            <a:off x="822960" y="15544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B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成长收获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324612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4BB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</a:t>
            </a: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完整经历产品从设计→开发→测试→上线全链路，对产品迭代有了系统认知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679065"/>
            <a:ext cx="324612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4BB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</a:t>
            </a: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RAG 实战调优经验深厚，从</a:t>
            </a:r>
            <a:r>
              <a:rPr lang="zh-CN" alt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预处理</a:t>
            </a:r>
            <a:r>
              <a:rPr lang="en-US" altLang="zh-CN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&amp;</a:t>
            </a: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翻译、检索到重排</a:t>
            </a:r>
            <a:r>
              <a:rPr lang="zh-CN" alt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、后处理</a:t>
            </a: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的每个环节都有深度实践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324612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4BB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</a:t>
            </a: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深度运用 AI 工具提效，形成</a:t>
            </a:r>
            <a:r>
              <a:rPr lang="zh-CN" alt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和维护</a:t>
            </a: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VIBE-CODING </a:t>
            </a:r>
            <a:r>
              <a:rPr lang="zh-CN" alt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个人使用</a:t>
            </a:r>
            <a:r>
              <a:rPr lang="zh-CN" alt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体系</a:t>
            </a:r>
            <a:endParaRPr lang="zh-CN" altLang="en-US" sz="1200" dirty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800600" y="1371600"/>
            <a:ext cx="3794760" cy="2926080"/>
          </a:xfrm>
          <a:prstGeom prst="rect">
            <a:avLst/>
          </a:prstGeom>
          <a:solidFill>
            <a:srgbClr val="F8FAFC"/>
          </a:solidFill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371600"/>
            <a:ext cx="3794760" cy="45720"/>
          </a:xfrm>
          <a:prstGeom prst="rect">
            <a:avLst/>
          </a:prstGeom>
          <a:solidFill>
            <a:srgbClr val="034498"/>
          </a:solidFill>
        </p:spPr>
      </p:sp>
      <p:sp>
        <p:nvSpPr>
          <p:cNvPr id="12" name="Text 10"/>
          <p:cNvSpPr/>
          <p:nvPr/>
        </p:nvSpPr>
        <p:spPr>
          <a:xfrm>
            <a:off x="5074920" y="15544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44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不足改进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74920" y="2011680"/>
            <a:ext cx="324612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344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</a:t>
            </a: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初期对 VIBE-CODING 模式不够熟悉，编码效率经历了一段适应期，现已形成稳定工作流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74920" y="3017520"/>
            <a:ext cx="324612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344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</a:t>
            </a: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zh-CN" alt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有时候</a:t>
            </a: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对业务理解不够深入，导致部分设计返工。后续坚持先吃透需求再动手，减少无效开发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pic>
        <p:nvPicPr>
          <p:cNvPr id="16" name="Image 0" descr="D:\my_project\SkillForge\docs\labuki_vi\1、原色logo\了不起科技logo_组合横-原色-800-400px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4709160"/>
            <a:ext cx="1097280" cy="38404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400800" y="470916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2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CONFIDENTIAL</a:t>
            </a:r>
            <a:endParaRPr lang="en-US" sz="700" dirty="0"/>
          </a:p>
        </p:txBody>
      </p:sp>
      <p:sp>
        <p:nvSpPr>
          <p:cNvPr id="18" name="文本框 17"/>
          <p:cNvSpPr txBox="1"/>
          <p:nvPr/>
        </p:nvSpPr>
        <p:spPr>
          <a:xfrm>
            <a:off x="752475" y="3953510"/>
            <a:ext cx="3477895" cy="548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200" b="1" dirty="0">
                <a:solidFill>
                  <a:srgbClr val="4BB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4.</a:t>
            </a:r>
            <a:r>
              <a:rPr lang="en-US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Feel so lucky to </a:t>
            </a:r>
            <a:r>
              <a:rPr lang="en-US" altLang="zh-CN" sz="12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be a part of the Labuki family &amp; to have met all you awesome people</a:t>
            </a:r>
            <a:endParaRPr lang="zh-CN" altLang="en-US" sz="1200" dirty="0">
              <a:solidFill>
                <a:srgbClr val="47556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endParaRPr lang="zh-CN" alt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BB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0" y="-182880"/>
            <a:ext cx="4754880" cy="4754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0" b="1" dirty="0">
                <a:solidFill>
                  <a:srgbClr val="FFFFFF">
                    <a:alpha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7000" dirty="0"/>
          </a:p>
        </p:txBody>
      </p:sp>
      <p:sp>
        <p:nvSpPr>
          <p:cNvPr id="3" name="Shape 1"/>
          <p:cNvSpPr/>
          <p:nvPr/>
        </p:nvSpPr>
        <p:spPr>
          <a:xfrm>
            <a:off x="7315200" y="274320"/>
            <a:ext cx="2286000" cy="2286000"/>
          </a:xfrm>
          <a:prstGeom prst="ellipse">
            <a:avLst/>
          </a:prstGeom>
          <a:solidFill>
            <a:srgbClr val="FFFFFF">
              <a:alpha val="8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731520" y="1737360"/>
            <a:ext cx="91440" cy="9144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932688" y="1737360"/>
            <a:ext cx="91440" cy="91440"/>
          </a:xfrm>
          <a:prstGeom prst="ellipse">
            <a:avLst/>
          </a:prstGeom>
          <a:solidFill>
            <a:srgbClr val="FFFFFF">
              <a:alpha val="70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1133856" y="1737360"/>
            <a:ext cx="91440" cy="91440"/>
          </a:xfrm>
          <a:prstGeom prst="ellipse">
            <a:avLst/>
          </a:prstGeom>
          <a:solidFill>
            <a:srgbClr val="FFFFFF">
              <a:alpha val="40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731520" y="19659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500" dirty="0">
                <a:solidFill>
                  <a:srgbClr val="FFFFFF">
                    <a:alpha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PART 04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未来规划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>
                    <a:alpha val="8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技术深耕与发展方向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4BB1FF"/>
          </a:solidFill>
        </p:spPr>
      </p:sp>
      <p:sp>
        <p:nvSpPr>
          <p:cNvPr id="3" name="Text 1"/>
          <p:cNvSpPr/>
          <p:nvPr/>
        </p:nvSpPr>
        <p:spPr>
          <a:xfrm>
            <a:off x="777240" y="41148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未来发展方向</a:t>
            </a:r>
            <a:endParaRPr lang="en-US" sz="22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548640" y="1371600"/>
            <a:ext cx="2560320" cy="2926080"/>
          </a:xfrm>
          <a:prstGeom prst="rect">
            <a:avLst/>
          </a:prstGeom>
          <a:solidFill>
            <a:srgbClr val="FFFFFF"/>
          </a:solidFill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548640" y="1371600"/>
            <a:ext cx="2560320" cy="45720"/>
          </a:xfrm>
          <a:prstGeom prst="rect">
            <a:avLst/>
          </a:prstGeom>
          <a:solidFill>
            <a:srgbClr val="4BB1FF"/>
          </a:solidFill>
        </p:spPr>
      </p:sp>
      <p:sp>
        <p:nvSpPr>
          <p:cNvPr id="6" name="Shape 4"/>
          <p:cNvSpPr/>
          <p:nvPr>
            <p:custDataLst>
              <p:tags r:id="rId3"/>
            </p:custDataLst>
          </p:nvPr>
        </p:nvSpPr>
        <p:spPr>
          <a:xfrm>
            <a:off x="1325880" y="1691640"/>
            <a:ext cx="1005840" cy="1005840"/>
          </a:xfrm>
          <a:prstGeom prst="ellipse">
            <a:avLst/>
          </a:prstGeom>
          <a:solidFill>
            <a:srgbClr val="DAEEFF"/>
          </a:solidFill>
        </p:spPr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1325880" y="169164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BB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731520" y="288036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技术深耕</a:t>
            </a:r>
            <a:endParaRPr lang="en-US" sz="1500" dirty="0"/>
          </a:p>
        </p:txBody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731520" y="3291840"/>
            <a:ext cx="21945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持续优化 RAG 检索效果;</a:t>
            </a:r>
            <a:b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</a:b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夯实数据库与系统架构能力；</a:t>
            </a:r>
            <a:b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</a:br>
            <a:r>
              <a:rPr lang="zh-CN" alt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紧跟</a:t>
            </a:r>
            <a:r>
              <a:rPr lang="en-US" altLang="zh-CN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</a:t>
            </a:r>
            <a:r>
              <a:rPr lang="zh-CN" alt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技术更新，快速运用到工作；</a:t>
            </a:r>
            <a:b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</a:b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模型部署与LLM</a:t>
            </a:r>
            <a:r>
              <a:rPr lang="zh-CN" alt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微调等</a:t>
            </a: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相关</a:t>
            </a:r>
            <a:r>
              <a:rPr lang="zh-CN" alt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</a:t>
            </a:r>
            <a:endParaRPr lang="zh-CN" altLang="en-US" sz="1100" dirty="0">
              <a:solidFill>
                <a:srgbClr val="64748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3383280" y="1371600"/>
            <a:ext cx="2560320" cy="2926080"/>
          </a:xfrm>
          <a:prstGeom prst="rect">
            <a:avLst/>
          </a:prstGeom>
          <a:solidFill>
            <a:srgbClr val="FFFFFF"/>
          </a:solidFill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>
            <p:custDataLst>
              <p:tags r:id="rId8"/>
            </p:custDataLst>
          </p:nvPr>
        </p:nvSpPr>
        <p:spPr>
          <a:xfrm>
            <a:off x="3383280" y="1371600"/>
            <a:ext cx="2560320" cy="45720"/>
          </a:xfrm>
          <a:prstGeom prst="rect">
            <a:avLst/>
          </a:prstGeom>
          <a:solidFill>
            <a:srgbClr val="4BB1FF"/>
          </a:solidFill>
        </p:spPr>
      </p:sp>
      <p:sp>
        <p:nvSpPr>
          <p:cNvPr id="12" name="Shape 10"/>
          <p:cNvSpPr/>
          <p:nvPr>
            <p:custDataLst>
              <p:tags r:id="rId9"/>
            </p:custDataLst>
          </p:nvPr>
        </p:nvSpPr>
        <p:spPr>
          <a:xfrm>
            <a:off x="4160520" y="1691640"/>
            <a:ext cx="1005840" cy="1005840"/>
          </a:xfrm>
          <a:prstGeom prst="ellipse">
            <a:avLst/>
          </a:prstGeom>
          <a:solidFill>
            <a:srgbClr val="DAEEFF"/>
          </a:solidFill>
        </p:spPr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4160520" y="169164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BB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3566160" y="288036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拓展</a:t>
            </a:r>
            <a:endParaRPr lang="en-US" sz="1500" dirty="0"/>
          </a:p>
        </p:txBody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3566160" y="329184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借助 AI 能力拓展更多业务板块，</a:t>
            </a:r>
            <a:b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</a:b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不局限于纯技术开发；</a:t>
            </a:r>
            <a:b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</a:b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深入 AI Agent 生态与工程化实践</a:t>
            </a:r>
            <a:endParaRPr lang="en-US" sz="1100" dirty="0"/>
          </a:p>
        </p:txBody>
      </p:sp>
      <p:sp>
        <p:nvSpPr>
          <p:cNvPr id="16" name="Shape 14"/>
          <p:cNvSpPr/>
          <p:nvPr>
            <p:custDataLst>
              <p:tags r:id="rId13"/>
            </p:custDataLst>
          </p:nvPr>
        </p:nvSpPr>
        <p:spPr>
          <a:xfrm>
            <a:off x="6217920" y="1371600"/>
            <a:ext cx="2560320" cy="2926080"/>
          </a:xfrm>
          <a:prstGeom prst="rect">
            <a:avLst/>
          </a:prstGeom>
          <a:solidFill>
            <a:srgbClr val="FFFFFF"/>
          </a:solidFill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>
            <p:custDataLst>
              <p:tags r:id="rId14"/>
            </p:custDataLst>
          </p:nvPr>
        </p:nvSpPr>
        <p:spPr>
          <a:xfrm>
            <a:off x="6217920" y="1371600"/>
            <a:ext cx="2560320" cy="45720"/>
          </a:xfrm>
          <a:prstGeom prst="rect">
            <a:avLst/>
          </a:prstGeom>
          <a:solidFill>
            <a:srgbClr val="4BB1FF"/>
          </a:solidFill>
        </p:spPr>
      </p:sp>
      <p:sp>
        <p:nvSpPr>
          <p:cNvPr id="18" name="Shape 16"/>
          <p:cNvSpPr/>
          <p:nvPr>
            <p:custDataLst>
              <p:tags r:id="rId15"/>
            </p:custDataLst>
          </p:nvPr>
        </p:nvSpPr>
        <p:spPr>
          <a:xfrm>
            <a:off x="6995160" y="1691640"/>
            <a:ext cx="1005840" cy="1005840"/>
          </a:xfrm>
          <a:prstGeom prst="ellipse">
            <a:avLst/>
          </a:prstGeom>
          <a:solidFill>
            <a:srgbClr val="DAEEFF"/>
          </a:solidFill>
        </p:spPr>
      </p:sp>
      <p:sp>
        <p:nvSpPr>
          <p:cNvPr id="19" name="Text 17"/>
          <p:cNvSpPr/>
          <p:nvPr>
            <p:custDataLst>
              <p:tags r:id="rId16"/>
            </p:custDataLst>
          </p:nvPr>
        </p:nvSpPr>
        <p:spPr>
          <a:xfrm>
            <a:off x="6995160" y="169164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BB1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/>
          <p:nvPr>
            <p:custDataLst>
              <p:tags r:id="rId17"/>
            </p:custDataLst>
          </p:nvPr>
        </p:nvSpPr>
        <p:spPr>
          <a:xfrm>
            <a:off x="6400800" y="288036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206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业务融合</a:t>
            </a:r>
            <a:endParaRPr lang="en-US" sz="1500" dirty="0"/>
          </a:p>
        </p:txBody>
      </p:sp>
      <p:sp>
        <p:nvSpPr>
          <p:cNvPr id="21" name="Text 19"/>
          <p:cNvSpPr/>
          <p:nvPr>
            <p:custDataLst>
              <p:tags r:id="rId18"/>
            </p:custDataLst>
          </p:nvPr>
        </p:nvSpPr>
        <p:spPr>
          <a:xfrm>
            <a:off x="6400800" y="3291840"/>
            <a:ext cx="21945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深入理解跨境合规业务场景，让技术方案更贴合实际需求；</a:t>
            </a:r>
            <a:b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</a:b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提升协作效率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663440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pic>
        <p:nvPicPr>
          <p:cNvPr id="23" name="Image 0" descr="D:\my_project\SkillForge\docs\labuki_vi\1、原色logo\了不起科技logo_组合横-原色-800-400px.png"/>
          <p:cNvPicPr>
            <a:picLocks noChangeAspect="1"/>
          </p:cNvPicPr>
          <p:nvPr/>
        </p:nvPicPr>
        <p:blipFill>
          <a:blip r:embed="rId19"/>
          <a:srcRect/>
          <a:stretch>
            <a:fillRect/>
          </a:stretch>
        </p:blipFill>
        <p:spPr>
          <a:xfrm>
            <a:off x="457200" y="4709160"/>
            <a:ext cx="1097280" cy="38404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400800" y="470916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kern="0" spc="2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34498">
              <a:alpha val="2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858000" y="2743200"/>
            <a:ext cx="4114800" cy="4114800"/>
          </a:xfrm>
          <a:prstGeom prst="ellipse">
            <a:avLst/>
          </a:prstGeom>
          <a:solidFill>
            <a:srgbClr val="4BB1FF">
              <a:alpha val="1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0" y="1005840"/>
            <a:ext cx="91440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谢谢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20116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6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70832" y="2606040"/>
            <a:ext cx="91440" cy="91440"/>
          </a:xfrm>
          <a:prstGeom prst="ellipse">
            <a:avLst/>
          </a:prstGeom>
          <a:solidFill>
            <a:srgbClr val="4BB1FF"/>
          </a:solidFill>
        </p:spPr>
      </p:sp>
      <p:sp>
        <p:nvSpPr>
          <p:cNvPr id="7" name="Shape 5"/>
          <p:cNvSpPr/>
          <p:nvPr/>
        </p:nvSpPr>
        <p:spPr>
          <a:xfrm>
            <a:off x="4572000" y="2606040"/>
            <a:ext cx="91440" cy="91440"/>
          </a:xfrm>
          <a:prstGeom prst="ellipse">
            <a:avLst/>
          </a:prstGeom>
          <a:solidFill>
            <a:srgbClr val="4BB1FF">
              <a:alpha val="70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4773168" y="2606040"/>
            <a:ext cx="91440" cy="91440"/>
          </a:xfrm>
          <a:prstGeom prst="ellipse">
            <a:avLst/>
          </a:prstGeom>
          <a:solidFill>
            <a:srgbClr val="4BB1FF">
              <a:alpha val="40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4A3B8"/>
                </a:solidFill>
              </a:rPr>
              <a:t>Ethan  ·  技术研发部  ·  后端开发工程师</a:t>
            </a:r>
            <a:endParaRPr lang="en-US" sz="1200" dirty="0"/>
          </a:p>
        </p:txBody>
      </p:sp>
      <p:pic>
        <p:nvPicPr>
          <p:cNvPr id="10" name="Image 0" descr="D:\my_project\SkillForge\docs\labuki_vi\2、白色logo\了不起科技logo_组合横-反白-800-400px 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200400" y="3749040"/>
            <a:ext cx="2743200" cy="1005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fade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219.6,&quot;left&quot;:43.2,&quot;top&quot;:108,&quot;width&quot;:648}"/>
</p:tagLst>
</file>

<file path=ppt/tags/tag2.xml><?xml version="1.0" encoding="utf-8"?>
<p:tagLst xmlns:p="http://schemas.openxmlformats.org/presentationml/2006/main">
  <p:tag name="KSO_WM_DIAGRAM_VIRTUALLY_FRAME" val="{&quot;height&quot;:219.6,&quot;left&quot;:43.2,&quot;top&quot;:108,&quot;width&quot;:648}"/>
</p:tagLst>
</file>

<file path=ppt/tags/tag3.xml><?xml version="1.0" encoding="utf-8"?>
<p:tagLst xmlns:p="http://schemas.openxmlformats.org/presentationml/2006/main">
  <p:tag name="KSO_WM_DIAGRAM_VIRTUALLY_FRAME" val="{&quot;height&quot;:219.6,&quot;left&quot;:43.2,&quot;top&quot;:108,&quot;width&quot;:648}"/>
</p:tagLst>
</file>

<file path=ppt/tags/tag4.xml><?xml version="1.0" encoding="utf-8"?>
<p:tagLst xmlns:p="http://schemas.openxmlformats.org/presentationml/2006/main">
  <p:tag name="KSO_WM_DIAGRAM_VIRTUALLY_FRAME" val="{&quot;height&quot;:219.6,&quot;left&quot;:43.2,&quot;top&quot;:108,&quot;width&quot;:648}"/>
</p:tagLst>
</file>

<file path=ppt/tags/tag5.xml><?xml version="1.0" encoding="utf-8"?>
<p:tagLst xmlns:p="http://schemas.openxmlformats.org/presentationml/2006/main">
  <p:tag name="KSO_WM_DIAGRAM_VIRTUALLY_FRAME" val="{&quot;height&quot;:219.6,&quot;left&quot;:43.2,&quot;top&quot;:108,&quot;width&quot;:648}"/>
</p:tagLst>
</file>

<file path=ppt/tags/tag6.xml><?xml version="1.0" encoding="utf-8"?>
<p:tagLst xmlns:p="http://schemas.openxmlformats.org/presentationml/2006/main">
  <p:tag name="KSO_WM_DIAGRAM_VIRTUALLY_FRAME" val="{&quot;height&quot;:219.6,&quot;left&quot;:43.2,&quot;top&quot;:108,&quot;width&quot;:648}"/>
</p:tagLst>
</file>

<file path=ppt/tags/tag7.xml><?xml version="1.0" encoding="utf-8"?>
<p:tagLst xmlns:p="http://schemas.openxmlformats.org/presentationml/2006/main">
  <p:tag name="KSO_WM_DIAGRAM_VIRTUALLY_FRAME" val="{&quot;height&quot;:219.6,&quot;left&quot;:43.2,&quot;top&quot;:108,&quot;width&quot;:648}"/>
</p:tagLst>
</file>

<file path=ppt/tags/tag8.xml><?xml version="1.0" encoding="utf-8"?>
<p:tagLst xmlns:p="http://schemas.openxmlformats.org/presentationml/2006/main">
  <p:tag name="KSO_WM_DIAGRAM_VIRTUALLY_FRAME" val="{&quot;height&quot;:219.6,&quot;left&quot;:43.2,&quot;top&quot;:108,&quot;width&quot;:648}"/>
</p:tagLst>
</file>

<file path=ppt/tags/tag9.xml><?xml version="1.0" encoding="utf-8"?>
<p:tagLst xmlns:p="http://schemas.openxmlformats.org/presentationml/2006/main">
  <p:tag name="KSO_WM_DIAGRAM_VIRTUALLY_FRAME" val="{&quot;height&quot;:219.6,&quot;left&quot;:43.2,&quot;top&quot;:108,&quot;width&quot;:648}"/>
</p:tagLst>
</file>

<file path=ppt/tags/tag10.xml><?xml version="1.0" encoding="utf-8"?>
<p:tagLst xmlns:p="http://schemas.openxmlformats.org/presentationml/2006/main">
  <p:tag name="KSO_WM_DIAGRAM_VIRTUALLY_FRAME" val="{&quot;height&quot;:219.6,&quot;left&quot;:43.2,&quot;top&quot;:108,&quot;width&quot;:648}"/>
</p:tagLst>
</file>

<file path=ppt/tags/tag11.xml><?xml version="1.0" encoding="utf-8"?>
<p:tagLst xmlns:p="http://schemas.openxmlformats.org/presentationml/2006/main">
  <p:tag name="KSO_WM_DIAGRAM_VIRTUALLY_FRAME" val="{&quot;height&quot;:219.6,&quot;left&quot;:43.2,&quot;top&quot;:108,&quot;width&quot;:648}"/>
</p:tagLst>
</file>

<file path=ppt/tags/tag12.xml><?xml version="1.0" encoding="utf-8"?>
<p:tagLst xmlns:p="http://schemas.openxmlformats.org/presentationml/2006/main">
  <p:tag name="KSO_WM_DIAGRAM_VIRTUALLY_FRAME" val="{&quot;height&quot;:219.6,&quot;left&quot;:43.2,&quot;top&quot;:108,&quot;width&quot;:648}"/>
</p:tagLst>
</file>

<file path=ppt/tags/tag13.xml><?xml version="1.0" encoding="utf-8"?>
<p:tagLst xmlns:p="http://schemas.openxmlformats.org/presentationml/2006/main">
  <p:tag name="KSO_WM_DIAGRAM_VIRTUALLY_FRAME" val="{&quot;height&quot;:219.6,&quot;left&quot;:43.2,&quot;top&quot;:108,&quot;width&quot;:648}"/>
</p:tagLst>
</file>

<file path=ppt/tags/tag14.xml><?xml version="1.0" encoding="utf-8"?>
<p:tagLst xmlns:p="http://schemas.openxmlformats.org/presentationml/2006/main">
  <p:tag name="KSO_WM_DIAGRAM_VIRTUALLY_FRAME" val="{&quot;height&quot;:219.6,&quot;left&quot;:43.2,&quot;top&quot;:108,&quot;width&quot;:648}"/>
</p:tagLst>
</file>

<file path=ppt/tags/tag15.xml><?xml version="1.0" encoding="utf-8"?>
<p:tagLst xmlns:p="http://schemas.openxmlformats.org/presentationml/2006/main">
  <p:tag name="KSO_WM_DIAGRAM_VIRTUALLY_FRAME" val="{&quot;height&quot;:219.6,&quot;left&quot;:43.2,&quot;top&quot;:108,&quot;width&quot;:648}"/>
</p:tagLst>
</file>

<file path=ppt/tags/tag16.xml><?xml version="1.0" encoding="utf-8"?>
<p:tagLst xmlns:p="http://schemas.openxmlformats.org/presentationml/2006/main">
  <p:tag name="KSO_WM_DIAGRAM_VIRTUALLY_FRAME" val="{&quot;height&quot;:219.6,&quot;left&quot;:43.2,&quot;top&quot;:108,&quot;width&quot;:648}"/>
</p:tagLst>
</file>

<file path=ppt/tags/tag17.xml><?xml version="1.0" encoding="utf-8"?>
<p:tagLst xmlns:p="http://schemas.openxmlformats.org/presentationml/2006/main">
  <p:tag name="KSO_WM_DIAGRAM_VIRTUALLY_FRAME" val="{&quot;height&quot;:219.6,&quot;left&quot;:43.2,&quot;top&quot;:108,&quot;width&quot;:648}"/>
</p:tagLst>
</file>

<file path=ppt/tags/tag18.xml><?xml version="1.0" encoding="utf-8"?>
<p:tagLst xmlns:p="http://schemas.openxmlformats.org/presentationml/2006/main">
  <p:tag name="KSO_WM_DIAGRAM_VIRTUALLY_FRAME" val="{&quot;height&quot;:219.6,&quot;left&quot;:43.2,&quot;top&quot;:108,&quot;width&quot;:648}"/>
</p:tagLst>
</file>

<file path=ppt/tags/tag19.xml><?xml version="1.0" encoding="utf-8"?>
<p:tagLst xmlns:p="http://schemas.openxmlformats.org/presentationml/2006/main">
  <p:tag name="KSO_WM_DIAGRAM_VIRTUALLY_FRAME" val="{&quot;height&quot;:219.6,&quot;left&quot;:43.2,&quot;top&quot;:108,&quot;width&quot;:648}"/>
</p:tagLst>
</file>

<file path=ppt/tags/tag20.xml><?xml version="1.0" encoding="utf-8"?>
<p:tagLst xmlns:p="http://schemas.openxmlformats.org/presentationml/2006/main">
  <p:tag name="KSO_WM_DIAGRAM_VIRTUALLY_FRAME" val="{&quot;height&quot;:219.6,&quot;left&quot;:43.2,&quot;top&quot;:108,&quot;width&quot;:648}"/>
</p:tagLst>
</file>

<file path=ppt/tags/tag21.xml><?xml version="1.0" encoding="utf-8"?>
<p:tagLst xmlns:p="http://schemas.openxmlformats.org/presentationml/2006/main">
  <p:tag name="KSO_WM_DIAGRAM_VIRTUALLY_FRAME" val="{&quot;height&quot;:219.6,&quot;left&quot;:43.2,&quot;top&quot;:108,&quot;width&quot;:648}"/>
</p:tagLst>
</file>

<file path=ppt/tags/tag22.xml><?xml version="1.0" encoding="utf-8"?>
<p:tagLst xmlns:p="http://schemas.openxmlformats.org/presentationml/2006/main">
  <p:tag name="KSO_WM_DIAGRAM_VIRTUALLY_FRAME" val="{&quot;height&quot;:219.6,&quot;left&quot;:43.2,&quot;top&quot;:108,&quot;width&quot;:648}"/>
</p:tagLst>
</file>

<file path=ppt/tags/tag23.xml><?xml version="1.0" encoding="utf-8"?>
<p:tagLst xmlns:p="http://schemas.openxmlformats.org/presentationml/2006/main">
  <p:tag name="KSO_WM_DIAGRAM_VIRTUALLY_FRAME" val="{&quot;height&quot;:219.6,&quot;left&quot;:43.2,&quot;top&quot;:108,&quot;width&quot;:648}"/>
</p:tagLst>
</file>

<file path=ppt/tags/tag24.xml><?xml version="1.0" encoding="utf-8"?>
<p:tagLst xmlns:p="http://schemas.openxmlformats.org/presentationml/2006/main">
  <p:tag name="KSO_WM_DIAGRAM_VIRTUALLY_FRAME" val="{&quot;height&quot;:219.6,&quot;left&quot;:43.2,&quot;top&quot;:108,&quot;width&quot;:648}"/>
</p:tagLst>
</file>

<file path=ppt/tags/tag25.xml><?xml version="1.0" encoding="utf-8"?>
<p:tagLst xmlns:p="http://schemas.openxmlformats.org/presentationml/2006/main">
  <p:tag name="KSO_WM_DIAGRAM_VIRTUALLY_FRAME" val="{&quot;height&quot;:219.6,&quot;left&quot;:43.2,&quot;top&quot;:108,&quot;width&quot;:648}"/>
</p:tagLst>
</file>

<file path=ppt/tags/tag26.xml><?xml version="1.0" encoding="utf-8"?>
<p:tagLst xmlns:p="http://schemas.openxmlformats.org/presentationml/2006/main">
  <p:tag name="KSO_WM_DIAGRAM_VIRTUALLY_FRAME" val="{&quot;height&quot;:219.6,&quot;left&quot;:43.2,&quot;top&quot;:108,&quot;width&quot;:648}"/>
</p:tagLst>
</file>

<file path=ppt/tags/tag27.xml><?xml version="1.0" encoding="utf-8"?>
<p:tagLst xmlns:p="http://schemas.openxmlformats.org/presentationml/2006/main">
  <p:tag name="KSO_WM_DIAGRAM_VIRTUALLY_FRAME" val="{&quot;height&quot;:219.6,&quot;left&quot;:43.2,&quot;top&quot;:108,&quot;width&quot;:648}"/>
</p:tagLst>
</file>

<file path=ppt/tags/tag28.xml><?xml version="1.0" encoding="utf-8"?>
<p:tagLst xmlns:p="http://schemas.openxmlformats.org/presentationml/2006/main">
  <p:tag name="KSO_WM_DIAGRAM_VIRTUALLY_FRAME" val="{&quot;height&quot;:219.6,&quot;left&quot;:43.2,&quot;top&quot;:108,&quot;width&quot;:648}"/>
</p:tagLst>
</file>

<file path=ppt/tags/tag29.xml><?xml version="1.0" encoding="utf-8"?>
<p:tagLst xmlns:p="http://schemas.openxmlformats.org/presentationml/2006/main">
  <p:tag name="KSO_WM_DIAGRAM_VIRTUALLY_FRAME" val="{&quot;height&quot;:219.6,&quot;left&quot;:43.2,&quot;top&quot;:108,&quot;width&quot;:648}"/>
</p:tagLst>
</file>

<file path=ppt/tags/tag30.xml><?xml version="1.0" encoding="utf-8"?>
<p:tagLst xmlns:p="http://schemas.openxmlformats.org/presentationml/2006/main">
  <p:tag name="KSO_WM_DIAGRAM_VIRTUALLY_FRAME" val="{&quot;height&quot;:219.6,&quot;left&quot;:43.2,&quot;top&quot;:108,&quot;width&quot;:648}"/>
</p:tagLst>
</file>

<file path=ppt/tags/tag31.xml><?xml version="1.0" encoding="utf-8"?>
<p:tagLst xmlns:p="http://schemas.openxmlformats.org/presentationml/2006/main">
  <p:tag name="KSO_WM_DIAGRAM_VIRTUALLY_FRAME" val="{&quot;height&quot;:169.2,&quot;left&quot;:43.2,&quot;top&quot;:100.8,&quot;width&quot;:648}"/>
</p:tagLst>
</file>

<file path=ppt/tags/tag32.xml><?xml version="1.0" encoding="utf-8"?>
<p:tagLst xmlns:p="http://schemas.openxmlformats.org/presentationml/2006/main">
  <p:tag name="KSO_WM_DIAGRAM_VIRTUALLY_FRAME" val="{&quot;height&quot;:169.2,&quot;left&quot;:43.2,&quot;top&quot;:100.8,&quot;width&quot;:648}"/>
</p:tagLst>
</file>

<file path=ppt/tags/tag33.xml><?xml version="1.0" encoding="utf-8"?>
<p:tagLst xmlns:p="http://schemas.openxmlformats.org/presentationml/2006/main">
  <p:tag name="KSO_WM_DIAGRAM_VIRTUALLY_FRAME" val="{&quot;height&quot;:169.2,&quot;left&quot;:43.2,&quot;top&quot;:100.8,&quot;width&quot;:648}"/>
</p:tagLst>
</file>

<file path=ppt/tags/tag34.xml><?xml version="1.0" encoding="utf-8"?>
<p:tagLst xmlns:p="http://schemas.openxmlformats.org/presentationml/2006/main">
  <p:tag name="KSO_WM_DIAGRAM_VIRTUALLY_FRAME" val="{&quot;height&quot;:169.2,&quot;left&quot;:43.2,&quot;top&quot;:100.8,&quot;width&quot;:648}"/>
</p:tagLst>
</file>

<file path=ppt/tags/tag35.xml><?xml version="1.0" encoding="utf-8"?>
<p:tagLst xmlns:p="http://schemas.openxmlformats.org/presentationml/2006/main">
  <p:tag name="KSO_WM_DIAGRAM_VIRTUALLY_FRAME" val="{&quot;height&quot;:169.2,&quot;left&quot;:43.2,&quot;top&quot;:100.8,&quot;width&quot;:648}"/>
</p:tagLst>
</file>

<file path=ppt/tags/tag36.xml><?xml version="1.0" encoding="utf-8"?>
<p:tagLst xmlns:p="http://schemas.openxmlformats.org/presentationml/2006/main">
  <p:tag name="KSO_WM_DIAGRAM_VIRTUALLY_FRAME" val="{&quot;height&quot;:169.2,&quot;left&quot;:43.2,&quot;top&quot;:100.8,&quot;width&quot;:648}"/>
</p:tagLst>
</file>

<file path=ppt/tags/tag37.xml><?xml version="1.0" encoding="utf-8"?>
<p:tagLst xmlns:p="http://schemas.openxmlformats.org/presentationml/2006/main">
  <p:tag name="KSO_WM_DIAGRAM_VIRTUALLY_FRAME" val="{&quot;height&quot;:169.2,&quot;left&quot;:43.2,&quot;top&quot;:100.8,&quot;width&quot;:648}"/>
</p:tagLst>
</file>

<file path=ppt/tags/tag38.xml><?xml version="1.0" encoding="utf-8"?>
<p:tagLst xmlns:p="http://schemas.openxmlformats.org/presentationml/2006/main">
  <p:tag name="KSO_WM_DIAGRAM_VIRTUALLY_FRAME" val="{&quot;height&quot;:169.2,&quot;left&quot;:43.2,&quot;top&quot;:100.8,&quot;width&quot;:648}"/>
</p:tagLst>
</file>

<file path=ppt/tags/tag39.xml><?xml version="1.0" encoding="utf-8"?>
<p:tagLst xmlns:p="http://schemas.openxmlformats.org/presentationml/2006/main">
  <p:tag name="KSO_WM_DIAGRAM_VIRTUALLY_FRAME" val="{&quot;height&quot;:169.2,&quot;left&quot;:43.2,&quot;top&quot;:100.8,&quot;width&quot;:648}"/>
</p:tagLst>
</file>

<file path=ppt/tags/tag40.xml><?xml version="1.0" encoding="utf-8"?>
<p:tagLst xmlns:p="http://schemas.openxmlformats.org/presentationml/2006/main">
  <p:tag name="KSO_WM_DIAGRAM_VIRTUALLY_FRAME" val="{&quot;height&quot;:169.2,&quot;left&quot;:43.2,&quot;top&quot;:100.8,&quot;width&quot;:648}"/>
</p:tagLst>
</file>

<file path=ppt/tags/tag41.xml><?xml version="1.0" encoding="utf-8"?>
<p:tagLst xmlns:p="http://schemas.openxmlformats.org/presentationml/2006/main">
  <p:tag name="KSO_WM_DIAGRAM_VIRTUALLY_FRAME" val="{&quot;height&quot;:169.2,&quot;left&quot;:43.2,&quot;top&quot;:100.8,&quot;width&quot;:648}"/>
</p:tagLst>
</file>

<file path=ppt/tags/tag42.xml><?xml version="1.0" encoding="utf-8"?>
<p:tagLst xmlns:p="http://schemas.openxmlformats.org/presentationml/2006/main">
  <p:tag name="KSO_WM_DIAGRAM_VIRTUALLY_FRAME" val="{&quot;height&quot;:169.2,&quot;left&quot;:43.2,&quot;top&quot;:100.8,&quot;width&quot;:648}"/>
</p:tagLst>
</file>

<file path=ppt/tags/tag43.xml><?xml version="1.0" encoding="utf-8"?>
<p:tagLst xmlns:p="http://schemas.openxmlformats.org/presentationml/2006/main">
  <p:tag name="KSO_WM_DIAGRAM_VIRTUALLY_FRAME" val="{&quot;height&quot;:230.4,&quot;left&quot;:43.2,&quot;top&quot;:108,&quot;width&quot;:648}"/>
</p:tagLst>
</file>

<file path=ppt/tags/tag44.xml><?xml version="1.0" encoding="utf-8"?>
<p:tagLst xmlns:p="http://schemas.openxmlformats.org/presentationml/2006/main">
  <p:tag name="KSO_WM_DIAGRAM_VIRTUALLY_FRAME" val="{&quot;height&quot;:230.4,&quot;left&quot;:43.2,&quot;top&quot;:108,&quot;width&quot;:648}"/>
</p:tagLst>
</file>

<file path=ppt/tags/tag45.xml><?xml version="1.0" encoding="utf-8"?>
<p:tagLst xmlns:p="http://schemas.openxmlformats.org/presentationml/2006/main">
  <p:tag name="KSO_WM_DIAGRAM_VIRTUALLY_FRAME" val="{&quot;height&quot;:230.4,&quot;left&quot;:43.2,&quot;top&quot;:108,&quot;width&quot;:648}"/>
</p:tagLst>
</file>

<file path=ppt/tags/tag46.xml><?xml version="1.0" encoding="utf-8"?>
<p:tagLst xmlns:p="http://schemas.openxmlformats.org/presentationml/2006/main">
  <p:tag name="KSO_WM_DIAGRAM_VIRTUALLY_FRAME" val="{&quot;height&quot;:230.4,&quot;left&quot;:43.2,&quot;top&quot;:108,&quot;width&quot;:648}"/>
</p:tagLst>
</file>

<file path=ppt/tags/tag47.xml><?xml version="1.0" encoding="utf-8"?>
<p:tagLst xmlns:p="http://schemas.openxmlformats.org/presentationml/2006/main">
  <p:tag name="KSO_WM_DIAGRAM_VIRTUALLY_FRAME" val="{&quot;height&quot;:230.4,&quot;left&quot;:43.2,&quot;top&quot;:108,&quot;width&quot;:648}"/>
</p:tagLst>
</file>

<file path=ppt/tags/tag48.xml><?xml version="1.0" encoding="utf-8"?>
<p:tagLst xmlns:p="http://schemas.openxmlformats.org/presentationml/2006/main">
  <p:tag name="KSO_WM_DIAGRAM_VIRTUALLY_FRAME" val="{&quot;height&quot;:230.4,&quot;left&quot;:43.2,&quot;top&quot;:108,&quot;width&quot;:648}"/>
</p:tagLst>
</file>

<file path=ppt/tags/tag49.xml><?xml version="1.0" encoding="utf-8"?>
<p:tagLst xmlns:p="http://schemas.openxmlformats.org/presentationml/2006/main">
  <p:tag name="KSO_WM_DIAGRAM_VIRTUALLY_FRAME" val="{&quot;height&quot;:230.4,&quot;left&quot;:43.2,&quot;top&quot;:108,&quot;width&quot;:648}"/>
</p:tagLst>
</file>

<file path=ppt/tags/tag50.xml><?xml version="1.0" encoding="utf-8"?>
<p:tagLst xmlns:p="http://schemas.openxmlformats.org/presentationml/2006/main">
  <p:tag name="KSO_WM_DIAGRAM_VIRTUALLY_FRAME" val="{&quot;height&quot;:230.4,&quot;left&quot;:43.2,&quot;top&quot;:108,&quot;width&quot;:648}"/>
</p:tagLst>
</file>

<file path=ppt/tags/tag51.xml><?xml version="1.0" encoding="utf-8"?>
<p:tagLst xmlns:p="http://schemas.openxmlformats.org/presentationml/2006/main">
  <p:tag name="KSO_WM_DIAGRAM_VIRTUALLY_FRAME" val="{&quot;height&quot;:230.4,&quot;left&quot;:43.2,&quot;top&quot;:108,&quot;width&quot;:648}"/>
</p:tagLst>
</file>

<file path=ppt/tags/tag52.xml><?xml version="1.0" encoding="utf-8"?>
<p:tagLst xmlns:p="http://schemas.openxmlformats.org/presentationml/2006/main">
  <p:tag name="KSO_WM_DIAGRAM_VIRTUALLY_FRAME" val="{&quot;height&quot;:230.4,&quot;left&quot;:43.2,&quot;top&quot;:108,&quot;width&quot;:648}"/>
</p:tagLst>
</file>

<file path=ppt/tags/tag53.xml><?xml version="1.0" encoding="utf-8"?>
<p:tagLst xmlns:p="http://schemas.openxmlformats.org/presentationml/2006/main">
  <p:tag name="KSO_WM_DIAGRAM_VIRTUALLY_FRAME" val="{&quot;height&quot;:230.4,&quot;left&quot;:43.2,&quot;top&quot;:108,&quot;width&quot;:648}"/>
</p:tagLst>
</file>

<file path=ppt/tags/tag54.xml><?xml version="1.0" encoding="utf-8"?>
<p:tagLst xmlns:p="http://schemas.openxmlformats.org/presentationml/2006/main">
  <p:tag name="KSO_WM_DIAGRAM_VIRTUALLY_FRAME" val="{&quot;height&quot;:230.4,&quot;left&quot;:43.2,&quot;top&quot;:108,&quot;width&quot;:648}"/>
</p:tagLst>
</file>

<file path=ppt/tags/tag55.xml><?xml version="1.0" encoding="utf-8"?>
<p:tagLst xmlns:p="http://schemas.openxmlformats.org/presentationml/2006/main">
  <p:tag name="KSO_WM_DIAGRAM_VIRTUALLY_FRAME" val="{&quot;height&quot;:230.4,&quot;left&quot;:43.2,&quot;top&quot;:108,&quot;width&quot;:648}"/>
</p:tagLst>
</file>

<file path=ppt/tags/tag56.xml><?xml version="1.0" encoding="utf-8"?>
<p:tagLst xmlns:p="http://schemas.openxmlformats.org/presentationml/2006/main">
  <p:tag name="KSO_WM_DIAGRAM_VIRTUALLY_FRAME" val="{&quot;height&quot;:230.4,&quot;left&quot;:43.2,&quot;top&quot;:108,&quot;width&quot;:648}"/>
</p:tagLst>
</file>

<file path=ppt/tags/tag57.xml><?xml version="1.0" encoding="utf-8"?>
<p:tagLst xmlns:p="http://schemas.openxmlformats.org/presentationml/2006/main">
  <p:tag name="KSO_WM_DIAGRAM_VIRTUALLY_FRAME" val="{&quot;height&quot;:230.4,&quot;left&quot;:43.2,&quot;top&quot;:108,&quot;width&quot;:648}"/>
</p:tagLst>
</file>

<file path=ppt/tags/tag58.xml><?xml version="1.0" encoding="utf-8"?>
<p:tagLst xmlns:p="http://schemas.openxmlformats.org/presentationml/2006/main">
  <p:tag name="KSO_WM_DIAGRAM_VIRTUALLY_FRAME" val="{&quot;height&quot;:230.4,&quot;left&quot;:43.2,&quot;top&quot;:108,&quot;width&quot;:648}"/>
</p:tagLst>
</file>

<file path=ppt/tags/tag59.xml><?xml version="1.0" encoding="utf-8"?>
<p:tagLst xmlns:p="http://schemas.openxmlformats.org/presentationml/2006/main">
  <p:tag name="KSO_WM_DIAGRAM_VIRTUALLY_FRAME" val="{&quot;height&quot;:230.4,&quot;left&quot;:43.2,&quot;top&quot;:108,&quot;width&quot;:648}"/>
</p:tagLst>
</file>

<file path=ppt/tags/tag60.xml><?xml version="1.0" encoding="utf-8"?>
<p:tagLst xmlns:p="http://schemas.openxmlformats.org/presentationml/2006/main">
  <p:tag name="KSO_WM_DIAGRAM_VIRTUALLY_FRAME" val="{&quot;height&quot;:230.4,&quot;left&quot;:43.2,&quot;top&quot;:108,&quot;width&quot;:64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1742</Words>
  <Application>WPS 演示</Application>
  <PresentationFormat>On-screen Show (16:9)</PresentationFormat>
  <Paragraphs>276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转正述职报告 — Ethan</dc:title>
  <dc:creator>Ethan</dc:creator>
  <dc:subject>PptxGenJS Presentation</dc:subject>
  <cp:lastModifiedBy>acjas</cp:lastModifiedBy>
  <cp:revision>17</cp:revision>
  <dcterms:created xsi:type="dcterms:W3CDTF">2026-02-10T16:57:00Z</dcterms:created>
  <dcterms:modified xsi:type="dcterms:W3CDTF">2026-02-11T11:32:18Z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D8B5F613DD174CA2897100E5597ADEC9_12</vt:lpwstr>
  </property>
  <property fmtid="{D5CDD505-2E9C-101B-9397-08002B2CF9AE}" pid="3" name="KSOProductBuildVer">
    <vt:lpwstr>2052-12.1.0.25222</vt:lpwstr>
  </property>
</Properties>
</file>